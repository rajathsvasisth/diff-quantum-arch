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62" r:id="rId10"/>
    <p:sldId id="271" r:id="rId11"/>
    <p:sldId id="265" r:id="rId12"/>
    <p:sldId id="272" r:id="rId13"/>
    <p:sldId id="273" r:id="rId14"/>
    <p:sldId id="274" r:id="rId15"/>
    <p:sldId id="275" r:id="rId16"/>
    <p:sldId id="276" r:id="rId17"/>
    <p:sldId id="277" r:id="rId18"/>
    <p:sldId id="281" r:id="rId19"/>
    <p:sldId id="278" r:id="rId20"/>
    <p:sldId id="279" r:id="rId21"/>
    <p:sldId id="280" r:id="rId22"/>
    <p:sldId id="26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45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89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2CD6-1FFC-9D17-52D1-3F47504B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8696A-D5D0-6B5E-063C-EDFAA91B1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C2175-CB80-BCD6-9E45-950CEF87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879BF-1865-8642-8692-E8531DF3E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4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AA5B9-AD7E-EAF5-F9CD-5CDB566B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9F27C-93FE-D442-3552-D1D37042A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7A378-86CC-E305-2C6D-48848EBAB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311BC-BDF9-4131-409D-360E54CF4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56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6A73-EA26-54BE-7AFF-A3B16FFB1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DEF57-E0B0-4862-689C-203E01EC3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F023F-D49D-C103-08EE-533BB015D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07289-AC65-86B7-F743-892ECCD5E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94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5249-F365-3705-22E6-93E08EA4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9CB2D-202E-63FF-556E-3E3B4701E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5F49F-870D-B93D-ADA8-382C5C770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4AC50-7460-5F66-87AF-E9D46A462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67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FE75-A0B4-A85E-7D5B-36551D7B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3917B-150E-D135-534A-12103B879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41DA6-BF90-BE98-7CFD-12018F7A4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4C80F-4FBD-7297-D776-76DD2712B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4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56A6-393E-554B-F509-3C94CD84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580C1-C864-AA43-265B-2DDAC3EC0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2AD27-76AA-FD28-ED13-6384AA136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14120-7FC7-E3CC-047F-29629D5D2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23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8197-3ADB-E3C5-9D92-A9AAD8EC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1F3CF-CC00-50F3-E7AF-484D14146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8B8A0-1F80-8EBB-739B-AA1F9FDCD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E9336-3525-412F-99EB-63EBE9F37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55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D41A-7EDB-06A6-7E0B-86CD78F4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FB166-5866-71C7-B37B-AD332FD42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A25A8-B699-56F0-4CAB-804822C59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2097D-BDEA-AF82-8471-FF84C6413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37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9AE8-4239-91D0-F994-1BB646F2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4A061-B214-E348-77C3-32DC439BC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560AC-97D4-58E1-27A3-36387D0B1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EF1D9-CF8A-56FD-8EF9-6C9876901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63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A392-11F2-2361-A0A6-F5BAE27F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A0D68-FC71-0837-1E94-3116A25AB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ED730-C1DB-E067-0DDF-011E9F49A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6FAD7-CB83-F151-3805-99B2F9C68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11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FBF82-0772-0EE3-BF1C-285D9DB0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BB927-B6A7-84FE-7A6B-F0D6494F3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8C371-6279-5BE4-F98B-79BBD7096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B4ABA-673B-8BE6-B7FA-BACB17968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97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5D0C-FD20-C6A5-1B95-A2A1815D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FCCA7-3898-F9D5-DF52-F6D60D91A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E8050-1518-7A61-F6FD-78247E057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5C47A-02A3-CB6F-DCC0-D3413EE091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24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1C71-4E00-E6A0-305F-1C775751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71AC1-4467-5483-34F3-2A25018A2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34692-04A2-D735-DC02-B79C0740C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57166-FA11-00DB-8074-771F158DC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64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EC83-A51F-2016-041D-2356EC6D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21741-C155-6FA1-DA50-3F9D8E423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55150-3D74-5E75-BB7A-C4D8AB4DC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DC942-6C36-85EA-15CB-F1F26A677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97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5DCE5-7A59-681F-D56F-DB3FE58F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69506-E76D-CC44-F2DF-21E4FDA0F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DB54E-6919-ED24-997A-B07682CE2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D0563-2B69-15C8-777B-421EC671A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93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1BCA-3F77-DD1F-70EA-5BF956CD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5613E-0878-4975-89BF-B82572992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28E22-49F5-57CF-5496-4AFEDB1F3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9DFFE-1D4B-102F-B813-786BAE9D8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76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1807-D767-DB2E-46F4-710E18C0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466B7-B0A6-582F-719E-A1BE71D43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A8FE8-94BA-6771-C0AD-F26E5FE9C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E5BF6-1B23-3611-89C2-03C2E147E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826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48EB1-A8FA-89BC-1444-7184EE5A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F0E31-5B8E-E821-E0CE-0E7C7C464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E7D1D-66BD-3E97-E759-E67C97B8D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08270-71E5-0A38-E497-D7207B73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31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D0FD-E91E-1F2E-C79D-B821D703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44A7B-F646-2CAA-707C-2B8CE6194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CC430-9182-11E7-FA51-934C007D1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2924F-D397-9A33-F3FB-8C506EC035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22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7D52-427F-5399-53DC-75195504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C0546-E7CD-9926-9436-FA8F8A6DE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4669F-BCB2-33CF-F607-13F2167C2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0780D-9C6D-98A0-A000-EB9C12760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01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cover_bg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05032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5E5E5"/>
                </a:solidFill>
              </a:rPr>
              <a:t>Differentiable Quantum Architecture Search for Max Cut problem with Compiler based optimization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57759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F37"/>
                </a:solidFill>
              </a:rPr>
              <a:t>CU Boulder Final Project Presentation
</a:t>
            </a:r>
            <a:r>
              <a:rPr lang="en-US" sz="1400" b="1" dirty="0">
                <a:solidFill>
                  <a:srgbClr val="E5E5E5"/>
                </a:solidFill>
              </a:rPr>
              <a:t>Rajath </a:t>
            </a:r>
            <a:r>
              <a:rPr lang="en-US" sz="1400" b="1" dirty="0" err="1">
                <a:solidFill>
                  <a:srgbClr val="E5E5E5"/>
                </a:solidFill>
              </a:rPr>
              <a:t>Shashikanth</a:t>
            </a:r>
            <a:r>
              <a:rPr lang="en-US" sz="1400" b="1" dirty="0">
                <a:solidFill>
                  <a:srgbClr val="E5E5E5"/>
                </a:solidFill>
              </a:rPr>
              <a:t> Vasisth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E5E5E5"/>
                </a:solidFill>
              </a:rPr>
              <a:t>Course: Quantum Computer Architecture and Error Correction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E5E5E5"/>
                </a:solidFill>
              </a:rPr>
              <a:t>Instructor: Prof. Ramin </a:t>
            </a:r>
            <a:r>
              <a:rPr lang="en-US" sz="1400" b="1" dirty="0" err="1">
                <a:solidFill>
                  <a:srgbClr val="E5E5E5"/>
                </a:solidFill>
              </a:rPr>
              <a:t>Ayanzadeh</a:t>
            </a:r>
            <a:endParaRPr lang="en-US" sz="1400" b="1" dirty="0">
              <a:solidFill>
                <a:srgbClr val="E5E5E5"/>
              </a:solidFill>
            </a:endParaRPr>
          </a:p>
          <a:p>
            <a:pPr marL="0" indent="0" algn="l">
              <a:buNone/>
            </a:pPr>
            <a:r>
              <a:rPr lang="en-US" sz="1400" i="1" dirty="0">
                <a:solidFill>
                  <a:srgbClr val="E5E5E5"/>
                </a:solidFill>
              </a:rPr>
              <a:t>Dec 10th, 2025</a:t>
            </a:r>
            <a:endParaRPr lang="en-US" sz="1400" dirty="0"/>
          </a:p>
        </p:txBody>
      </p:sp>
      <p:pic>
        <p:nvPicPr>
          <p:cNvPr id="6" name="Image 1" descr="/home/oai/share/cu_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4389120"/>
            <a:ext cx="73152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9D8C0-600F-2C5C-2EAF-5F0F432E97B3}"/>
              </a:ext>
            </a:extLst>
          </p:cNvPr>
          <p:cNvSpPr txBox="1"/>
          <p:nvPr/>
        </p:nvSpPr>
        <p:spPr>
          <a:xfrm>
            <a:off x="457200" y="1639669"/>
            <a:ext cx="689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4AF37"/>
                </a:solidFill>
              </a:rPr>
              <a:t>Compiler Aware </a:t>
            </a:r>
            <a:r>
              <a:rPr lang="en-US" sz="3600" b="1" dirty="0" err="1">
                <a:solidFill>
                  <a:srgbClr val="D4AF37"/>
                </a:solidFill>
              </a:rPr>
              <a:t>QuantumDARTS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Context</a:t>
            </a:r>
            <a:endParaRPr lang="en-US" sz="2400" dirty="0"/>
          </a:p>
        </p:txBody>
      </p:sp>
      <p:pic>
        <p:nvPicPr>
          <p:cNvPr id="5" name="Image 1" descr="/home/oai/share/cu_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163371-0832-A609-37E7-44E4801115E9}"/>
              </a:ext>
            </a:extLst>
          </p:cNvPr>
          <p:cNvSpPr txBox="1"/>
          <p:nvPr/>
        </p:nvSpPr>
        <p:spPr>
          <a:xfrm>
            <a:off x="274320" y="902043"/>
            <a:ext cx="8595360" cy="3743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20"/>
              </a:lnSpc>
            </a:pPr>
            <a:r>
              <a:rPr lang="en-US" sz="1600" dirty="0" err="1">
                <a:solidFill>
                  <a:schemeClr val="bg1"/>
                </a:solidFill>
              </a:rPr>
              <a:t>QuantumDARTS</a:t>
            </a:r>
            <a:r>
              <a:rPr lang="en-US" sz="1600" dirty="0">
                <a:solidFill>
                  <a:schemeClr val="bg1"/>
                </a:solidFill>
              </a:rPr>
              <a:t> is a QAS </a:t>
            </a:r>
            <a:r>
              <a:rPr lang="en-US" sz="1600" b="1" dirty="0">
                <a:solidFill>
                  <a:schemeClr val="bg1"/>
                </a:solidFill>
              </a:rPr>
              <a:t>framework to automatically design quantum circuits</a:t>
            </a:r>
            <a:r>
              <a:rPr lang="en-US" sz="1600" dirty="0">
                <a:solidFill>
                  <a:schemeClr val="bg1"/>
                </a:solidFill>
              </a:rPr>
              <a:t> (parameterized quantum circuits / </a:t>
            </a:r>
            <a:r>
              <a:rPr lang="en-US" sz="1600" dirty="0" err="1">
                <a:solidFill>
                  <a:schemeClr val="bg1"/>
                </a:solidFill>
              </a:rPr>
              <a:t>ansätze</a:t>
            </a:r>
            <a:r>
              <a:rPr lang="en-US" sz="1600" dirty="0">
                <a:solidFill>
                  <a:schemeClr val="bg1"/>
                </a:solidFill>
              </a:rPr>
              <a:t>) using:</a:t>
            </a:r>
          </a:p>
          <a:p>
            <a:pPr>
              <a:lnSpc>
                <a:spcPts val="222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Differentiable architecture search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Gumbel-</a:t>
            </a:r>
            <a:r>
              <a:rPr lang="en-US" sz="1600" b="1" dirty="0" err="1">
                <a:solidFill>
                  <a:schemeClr val="bg1"/>
                </a:solidFill>
              </a:rPr>
              <a:t>Softmax</a:t>
            </a:r>
            <a:r>
              <a:rPr lang="en-US" sz="1600" dirty="0">
                <a:solidFill>
                  <a:schemeClr val="bg1"/>
                </a:solidFill>
              </a:rPr>
              <a:t> to learn which gates to use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Gradient-based optimization</a:t>
            </a:r>
            <a:r>
              <a:rPr lang="en-US" sz="1600" dirty="0">
                <a:solidFill>
                  <a:schemeClr val="bg1"/>
                </a:solidFill>
              </a:rPr>
              <a:t> instead of brute-force circuit search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Current VQA performance is </a:t>
            </a:r>
            <a:r>
              <a:rPr lang="en-US" sz="1600" b="1" dirty="0">
                <a:solidFill>
                  <a:schemeClr val="bg1"/>
                </a:solidFill>
              </a:rPr>
              <a:t>highly dependent </a:t>
            </a:r>
            <a:r>
              <a:rPr lang="en-US" sz="1600" dirty="0">
                <a:solidFill>
                  <a:schemeClr val="bg1"/>
                </a:solidFill>
              </a:rPr>
              <a:t>on the choice of ansatz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QuantumDARTS</a:t>
            </a:r>
            <a:r>
              <a:rPr lang="en-US" sz="1600" dirty="0">
                <a:solidFill>
                  <a:schemeClr val="bg1"/>
                </a:solidFill>
              </a:rPr>
              <a:t> learns the </a:t>
            </a:r>
            <a:r>
              <a:rPr lang="en-US" sz="1600" b="1" dirty="0">
                <a:solidFill>
                  <a:schemeClr val="bg1"/>
                </a:solidFill>
              </a:rPr>
              <a:t>best circuit structure and parameters jointly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Reduces the need for manual design in:</a:t>
            </a:r>
          </a:p>
          <a:p>
            <a:pPr marL="742950" lvl="1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VQE (ground state estimation)</a:t>
            </a:r>
          </a:p>
          <a:p>
            <a:pPr marL="742950" lvl="1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QAOA (combinatorial optimization)</a:t>
            </a:r>
          </a:p>
          <a:p>
            <a:pPr marL="742950" lvl="1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Quantum Neural Networks (QNN)</a:t>
            </a:r>
          </a:p>
          <a:p>
            <a:pPr>
              <a:lnSpc>
                <a:spcPts val="2220"/>
              </a:lnSpc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1AEB0-F53F-E0CD-1907-BC7D0FDD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46F0F6-CE99-09C3-BC5E-DB0F4AE444EF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Why Differentiable Architecture Search? Can we do better?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9B1F40F1-F625-C6E2-A0D3-4CAE17BA4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7B8341-46A2-9471-C8A6-AA0C0566CB1F}"/>
              </a:ext>
            </a:extLst>
          </p:cNvPr>
          <p:cNvSpPr txBox="1"/>
          <p:nvPr/>
        </p:nvSpPr>
        <p:spPr>
          <a:xfrm>
            <a:off x="274320" y="902043"/>
            <a:ext cx="8595360" cy="402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20"/>
              </a:lnSpc>
            </a:pPr>
            <a:r>
              <a:rPr lang="en-US" sz="1600" dirty="0">
                <a:solidFill>
                  <a:schemeClr val="bg1"/>
                </a:solidFill>
              </a:rPr>
              <a:t>Instead of Randomly or categorically selecting a gate at each position of the circuit, this method uses: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Learnable logits </a:t>
            </a:r>
            <a:r>
              <a:rPr lang="el-GR" sz="1600" dirty="0">
                <a:solidFill>
                  <a:schemeClr val="bg1"/>
                </a:solidFill>
              </a:rPr>
              <a:t>α</a:t>
            </a:r>
            <a:r>
              <a:rPr lang="en-US" sz="1600" baseline="-25000" dirty="0" err="1">
                <a:solidFill>
                  <a:schemeClr val="bg1"/>
                </a:solidFill>
              </a:rPr>
              <a:t>ij</a:t>
            </a:r>
            <a:r>
              <a:rPr lang="en-US" sz="1600" dirty="0">
                <a:solidFill>
                  <a:schemeClr val="bg1"/>
                </a:solidFill>
              </a:rPr>
              <a:t>​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Gumbel-</a:t>
            </a:r>
            <a:r>
              <a:rPr lang="en-US" sz="1600" dirty="0" err="1">
                <a:solidFill>
                  <a:schemeClr val="bg1"/>
                </a:solidFill>
              </a:rPr>
              <a:t>Softmax</a:t>
            </a:r>
            <a:r>
              <a:rPr lang="en-US" sz="1600" dirty="0">
                <a:solidFill>
                  <a:schemeClr val="bg1"/>
                </a:solidFill>
              </a:rPr>
              <a:t> sampling to pick gates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Differentiable gate selection during backprop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Update architecture </a:t>
            </a:r>
            <a:r>
              <a:rPr lang="en-US" sz="1600" i="1" dirty="0">
                <a:solidFill>
                  <a:schemeClr val="bg1"/>
                </a:solidFill>
              </a:rPr>
              <a:t>A</a:t>
            </a:r>
            <a:r>
              <a:rPr lang="en-US" sz="1600" dirty="0">
                <a:solidFill>
                  <a:schemeClr val="bg1"/>
                </a:solidFill>
              </a:rPr>
              <a:t> and parameters </a:t>
            </a:r>
            <a:r>
              <a:rPr lang="el-GR" sz="1600" dirty="0">
                <a:solidFill>
                  <a:schemeClr val="bg1"/>
                </a:solidFill>
              </a:rPr>
              <a:t>θ </a:t>
            </a:r>
            <a:r>
              <a:rPr lang="en-US" sz="1600" dirty="0">
                <a:solidFill>
                  <a:schemeClr val="bg1"/>
                </a:solidFill>
              </a:rPr>
              <a:t>via gradient descent</a:t>
            </a:r>
          </a:p>
          <a:p>
            <a:pPr>
              <a:lnSpc>
                <a:spcPts val="222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ts val="2220"/>
              </a:lnSpc>
            </a:pPr>
            <a:r>
              <a:rPr lang="en-US" sz="1600" dirty="0">
                <a:solidFill>
                  <a:schemeClr val="bg1"/>
                </a:solidFill>
              </a:rPr>
              <a:t>Uses two strategies: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Macro Search: Search the entire circuit and perform global circuit optimization</a:t>
            </a:r>
          </a:p>
          <a:p>
            <a:pPr marL="285750" indent="-285750">
              <a:lnSpc>
                <a:spcPts val="222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Micro Search: Search sub circuits and learn smaller blocks to finally stack them up and build the bigger circuit. Very useful for deeper and larger circuits.</a:t>
            </a:r>
          </a:p>
          <a:p>
            <a:pPr>
              <a:lnSpc>
                <a:spcPts val="222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ts val="2220"/>
              </a:lnSpc>
            </a:pPr>
            <a:r>
              <a:rPr lang="en-US" sz="1600" dirty="0">
                <a:solidFill>
                  <a:schemeClr val="bg1"/>
                </a:solidFill>
              </a:rPr>
              <a:t>Experiments show positive results for Quantum Chemistry, Max Cut and Image Classification (MINST)</a:t>
            </a:r>
          </a:p>
          <a:p>
            <a:pPr>
              <a:lnSpc>
                <a:spcPts val="2220"/>
              </a:lnSpc>
            </a:pPr>
            <a:r>
              <a:rPr lang="en-US" sz="1600" dirty="0">
                <a:solidFill>
                  <a:schemeClr val="bg1"/>
                </a:solidFill>
              </a:rPr>
              <a:t>We will focus on applying compiler awareness to this Algorithm for the Max Cut Problem!</a:t>
            </a:r>
          </a:p>
          <a:p>
            <a:pPr>
              <a:lnSpc>
                <a:spcPts val="2220"/>
              </a:lnSpc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69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EE67B-3FC0-44E2-9727-48C3CB8F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9EB1E5-6CBB-7C2B-259C-BC3F84F5E2DB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Architecture and Current Approaches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273D7682-647A-506F-98ED-6BC56B6C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416709"/>
            <a:ext cx="731520" cy="548640"/>
          </a:xfrm>
          <a:prstGeom prst="rect">
            <a:avLst/>
          </a:prstGeom>
        </p:spPr>
      </p:pic>
      <p:pic>
        <p:nvPicPr>
          <p:cNvPr id="4" name="Picture 3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7AD3BC5E-F6B9-9306-EF7A-957ADBAB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260" y="726791"/>
            <a:ext cx="3219420" cy="3644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FC0C6-DF02-A129-844B-4F19105E36AA}"/>
              </a:ext>
            </a:extLst>
          </p:cNvPr>
          <p:cNvSpPr txBox="1"/>
          <p:nvPr/>
        </p:nvSpPr>
        <p:spPr>
          <a:xfrm>
            <a:off x="319816" y="777240"/>
            <a:ext cx="513054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1. Evolutionary Algorithms (Genetic Algorithms)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 genetic evolution to design circuits.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Cannot easily handle parameterized rotation gates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2. Reinforcement Learning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Agent selects gates sequentially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Reward based on circuit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Works for very small systems due to large search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3. Sampling-Based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Sample circuits from a candidate gate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Monte Carlo sampling used to explore architectures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4. Differentiable Neural Architecture Search (NAS)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Converts discrete choices into continuous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Optimizes architecture via </a:t>
            </a:r>
            <a:r>
              <a:rPr lang="en-US" sz="1600" dirty="0" err="1">
                <a:solidFill>
                  <a:schemeClr val="bg1"/>
                </a:solidFill>
              </a:rPr>
              <a:t>Softmax</a:t>
            </a:r>
            <a:r>
              <a:rPr lang="en-US" sz="1600" dirty="0">
                <a:solidFill>
                  <a:schemeClr val="bg1"/>
                </a:solidFill>
              </a:rPr>
              <a:t> or Gumbel-</a:t>
            </a:r>
            <a:r>
              <a:rPr lang="en-US" sz="1600" dirty="0" err="1">
                <a:solidFill>
                  <a:schemeClr val="bg1"/>
                </a:solidFill>
              </a:rPr>
              <a:t>Softmax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53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49BC9-A542-0090-F684-3CA25141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FCF141-8E26-812E-5FB1-63FCDE8D19F0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What is new in Compiler Aware Architecture for Max Cut?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0BC2972E-81C7-D4AD-58DC-FF8EBA925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416709"/>
            <a:ext cx="731520" cy="548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C2BC65-9CC5-56EC-4325-C4B7714C80F5}"/>
              </a:ext>
            </a:extLst>
          </p:cNvPr>
          <p:cNvSpPr txBox="1"/>
          <p:nvPr/>
        </p:nvSpPr>
        <p:spPr>
          <a:xfrm>
            <a:off x="319816" y="777240"/>
            <a:ext cx="5130549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The circuit that the Algorithm comes with for Micro Search is compiled using noisy constraints for IBM hardware such as </a:t>
            </a:r>
            <a:r>
              <a:rPr lang="en-US" sz="1600" dirty="0" err="1">
                <a:solidFill>
                  <a:schemeClr val="bg1"/>
                </a:solidFill>
              </a:rPr>
              <a:t>torino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This gives us the number of gates used in the circuit, circuit depth, SWAP penalty and approximate error in qubit routing and executing 2 and 1 qubit gates.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These metrics are applied as a scalar non differentiable penalty to the loss function to further optimize architecture search.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The final equation is as shown in the figure.</a:t>
            </a:r>
          </a:p>
        </p:txBody>
      </p:sp>
      <p:pic>
        <p:nvPicPr>
          <p:cNvPr id="7" name="Picture 6" descr="A diagram of a computer hardware system&#10;&#10;Description automatically generated">
            <a:extLst>
              <a:ext uri="{FF2B5EF4-FFF2-40B4-BE49-F238E27FC236}">
                <a16:creationId xmlns:a16="http://schemas.microsoft.com/office/drawing/2014/main" id="{2A347F50-BC81-3CB8-E35A-0A3A1C3F6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975" y="812212"/>
            <a:ext cx="2953623" cy="36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8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C3D6D-A5EC-0DC3-DC53-0D0FF158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6C2B48-11C3-C5BC-7B79-DB80DE71F456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Methodology (Original)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6AB4B233-6263-3274-DE34-DB4BEBD54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0E088B-848F-AAF9-B66F-7B35228279C2}"/>
              </a:ext>
            </a:extLst>
          </p:cNvPr>
          <p:cNvSpPr txBox="1"/>
          <p:nvPr/>
        </p:nvSpPr>
        <p:spPr>
          <a:xfrm>
            <a:off x="274320" y="777240"/>
            <a:ext cx="859536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Build a full quantum circuit from a candidate gate set G (n x m). Taking two-qubit gate CZ as an example, G = CZ is an abbreviation of G = {CZ</a:t>
            </a:r>
            <a:r>
              <a:rPr lang="en-US" sz="1600" baseline="-25000" dirty="0">
                <a:solidFill>
                  <a:schemeClr val="bg1"/>
                </a:solidFill>
              </a:rPr>
              <a:t>1, ……., </a:t>
            </a:r>
            <a:r>
              <a:rPr lang="en-US" sz="1600" dirty="0">
                <a:solidFill>
                  <a:schemeClr val="bg1"/>
                </a:solidFill>
              </a:rPr>
              <a:t> CZ</a:t>
            </a:r>
            <a:r>
              <a:rPr lang="en-US" sz="1600" baseline="-25000" dirty="0">
                <a:solidFill>
                  <a:schemeClr val="bg1"/>
                </a:solidFill>
              </a:rPr>
              <a:t>n-1</a:t>
            </a:r>
            <a:r>
              <a:rPr lang="en-US" sz="1600" dirty="0">
                <a:solidFill>
                  <a:schemeClr val="bg1"/>
                </a:solidFill>
              </a:rPr>
              <a:t>} which means each two-qubit gate will add n</a:t>
            </a:r>
            <a:r>
              <a:rPr lang="en-US" sz="1600" baseline="30000" dirty="0">
                <a:solidFill>
                  <a:schemeClr val="bg1"/>
                </a:solidFill>
              </a:rPr>
              <a:t>2</a:t>
            </a:r>
            <a:r>
              <a:rPr lang="en-US" sz="1600" dirty="0">
                <a:solidFill>
                  <a:schemeClr val="bg1"/>
                </a:solidFill>
              </a:rPr>
              <a:t> number of gates with all combinations of target and control qubits and each Quantum gate is mapped to a 2</a:t>
            </a:r>
            <a:r>
              <a:rPr lang="en-US" sz="1600" baseline="30000" dirty="0">
                <a:solidFill>
                  <a:schemeClr val="bg1"/>
                </a:solidFill>
              </a:rPr>
              <a:t>n </a:t>
            </a:r>
            <a:r>
              <a:rPr lang="en-US" sz="1600" dirty="0">
                <a:solidFill>
                  <a:schemeClr val="bg1"/>
                </a:solidFill>
              </a:rPr>
              <a:t>x 2</a:t>
            </a:r>
            <a:r>
              <a:rPr lang="en-US" sz="1600" baseline="30000" dirty="0">
                <a:solidFill>
                  <a:schemeClr val="bg1"/>
                </a:solidFill>
              </a:rPr>
              <a:t>n </a:t>
            </a:r>
            <a:r>
              <a:rPr lang="en-US" sz="1600" dirty="0">
                <a:solidFill>
                  <a:schemeClr val="bg1"/>
                </a:solidFill>
              </a:rPr>
              <a:t>unitary with irrelevant qubits as identity so that final state vector can be simulated.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 </a:t>
            </a:r>
            <a:r>
              <a:rPr lang="en-US" sz="1600" b="1" dirty="0">
                <a:solidFill>
                  <a:schemeClr val="bg1"/>
                </a:solidFill>
              </a:rPr>
              <a:t>Gumbel-</a:t>
            </a:r>
            <a:r>
              <a:rPr lang="en-US" sz="1600" b="1" dirty="0" err="1">
                <a:solidFill>
                  <a:schemeClr val="bg1"/>
                </a:solidFill>
              </a:rPr>
              <a:t>Softmax</a:t>
            </a:r>
            <a:r>
              <a:rPr lang="en-US" sz="1600" dirty="0">
                <a:solidFill>
                  <a:schemeClr val="bg1"/>
                </a:solidFill>
              </a:rPr>
              <a:t> to pick gates at each (qubit (n), layer(m))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Construct unitary U from selected gates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Compute loss (VQE/QNN)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Update: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architecture weights P, 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rotation parameters </a:t>
            </a:r>
            <a:r>
              <a:rPr lang="el-GR" sz="1600" dirty="0">
                <a:solidFill>
                  <a:schemeClr val="bg1"/>
                </a:solidFill>
              </a:rPr>
              <a:t>θ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Gumbel-</a:t>
            </a:r>
            <a:r>
              <a:rPr lang="en-US" sz="1600" dirty="0" err="1">
                <a:solidFill>
                  <a:schemeClr val="bg1"/>
                </a:solidFill>
              </a:rPr>
              <a:t>Softmax</a:t>
            </a:r>
            <a:r>
              <a:rPr lang="en-US" sz="1600" dirty="0">
                <a:solidFill>
                  <a:schemeClr val="bg1"/>
                </a:solidFill>
              </a:rPr>
              <a:t> provides a differentiable approximation by adding noise from Gumbel Distribution between  categorical gate choices.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Allows backpropagation over architecture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022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D5D21-3B50-4903-047C-2BF2AE4A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3B8DC6-84F7-BDB0-5BFF-B8C3F728AF49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Methodology (Original)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25EA3CBC-58ED-5446-7F83-6336B83F5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8A08E6-7DBE-A55A-4ACA-D7BB79288EB2}"/>
              </a:ext>
            </a:extLst>
          </p:cNvPr>
          <p:cNvSpPr txBox="1"/>
          <p:nvPr/>
        </p:nvSpPr>
        <p:spPr>
          <a:xfrm>
            <a:off x="405399" y="1135118"/>
            <a:ext cx="2986439" cy="3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Main Components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M</a:t>
            </a:r>
            <a:r>
              <a:rPr lang="en-US" sz="1600" baseline="-25000" dirty="0" err="1">
                <a:solidFill>
                  <a:schemeClr val="bg1"/>
                </a:solidFill>
              </a:rPr>
              <a:t>ij</a:t>
            </a:r>
            <a:r>
              <a:rPr lang="en-US" sz="1600" dirty="0">
                <a:solidFill>
                  <a:schemeClr val="bg1"/>
                </a:solidFill>
              </a:rPr>
              <a:t>: gate choice at qubit 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, layer j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1600" dirty="0">
                <a:solidFill>
                  <a:schemeClr val="bg1"/>
                </a:solidFill>
              </a:rPr>
              <a:t>α</a:t>
            </a:r>
            <a:r>
              <a:rPr lang="en-US" sz="1600" baseline="-25000" dirty="0" err="1">
                <a:solidFill>
                  <a:schemeClr val="bg1"/>
                </a:solidFill>
              </a:rPr>
              <a:t>ij</a:t>
            </a:r>
            <a:r>
              <a:rPr lang="en-US" sz="1600" dirty="0">
                <a:solidFill>
                  <a:schemeClr val="bg1"/>
                </a:solidFill>
              </a:rPr>
              <a:t>​: architecture logits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T</a:t>
            </a:r>
            <a:r>
              <a:rPr lang="en-US" sz="1600" baseline="-25000" dirty="0" err="1">
                <a:solidFill>
                  <a:schemeClr val="bg1"/>
                </a:solidFill>
              </a:rPr>
              <a:t>ij</a:t>
            </a:r>
            <a:r>
              <a:rPr lang="en-US" sz="1600" dirty="0">
                <a:solidFill>
                  <a:schemeClr val="bg1"/>
                </a:solidFill>
              </a:rPr>
              <a:t>​ (k): gate probability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h</a:t>
            </a:r>
            <a:r>
              <a:rPr lang="en-US" sz="1600" baseline="-25000" dirty="0" err="1">
                <a:solidFill>
                  <a:schemeClr val="bg1"/>
                </a:solidFill>
              </a:rPr>
              <a:t>ij</a:t>
            </a:r>
            <a:r>
              <a:rPr lang="en-US" sz="1600" dirty="0">
                <a:solidFill>
                  <a:schemeClr val="bg1"/>
                </a:solidFill>
              </a:rPr>
              <a:t>​: Gumbel-</a:t>
            </a:r>
            <a:r>
              <a:rPr lang="en-US" sz="1600" dirty="0" err="1">
                <a:solidFill>
                  <a:schemeClr val="bg1"/>
                </a:solidFill>
              </a:rPr>
              <a:t>Softmax</a:t>
            </a:r>
            <a:r>
              <a:rPr lang="en-US" sz="1600" dirty="0">
                <a:solidFill>
                  <a:schemeClr val="bg1"/>
                </a:solidFill>
              </a:rPr>
              <a:t> sample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U_hat</a:t>
            </a:r>
            <a:r>
              <a:rPr lang="en-US" sz="1600" dirty="0">
                <a:solidFill>
                  <a:schemeClr val="bg1"/>
                </a:solidFill>
              </a:rPr>
              <a:t>: resulting circuit unitary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|G| = K = number of gates in set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Picture 5" descr="A group of mathematical equations&#10;&#10;Description automatically generated">
            <a:extLst>
              <a:ext uri="{FF2B5EF4-FFF2-40B4-BE49-F238E27FC236}">
                <a16:creationId xmlns:a16="http://schemas.microsoft.com/office/drawing/2014/main" id="{C5186931-3BDF-E6CA-40EF-1B1FCB9C5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074" y="1099058"/>
            <a:ext cx="4668266" cy="2748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455C92-20A0-8836-4856-E7F6C4AFB628}"/>
              </a:ext>
            </a:extLst>
          </p:cNvPr>
          <p:cNvSpPr txBox="1"/>
          <p:nvPr/>
        </p:nvSpPr>
        <p:spPr>
          <a:xfrm>
            <a:off x="196938" y="4002990"/>
            <a:ext cx="8631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If a single-qubit gate 𝐺 acts on qubit 2 (middle qubit) of a 3-qubit system, the corresponding full-system unitary is:</a:t>
            </a:r>
          </a:p>
        </p:txBody>
      </p:sp>
      <p:pic>
        <p:nvPicPr>
          <p:cNvPr id="10" name="Picture 9" descr="A black text with a x in the middle&#10;&#10;Description automatically generated">
            <a:extLst>
              <a:ext uri="{FF2B5EF4-FFF2-40B4-BE49-F238E27FC236}">
                <a16:creationId xmlns:a16="http://schemas.microsoft.com/office/drawing/2014/main" id="{C248BF87-DBCB-2FBA-6A2A-8AC36CC18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420" y="4300692"/>
            <a:ext cx="1116584" cy="3511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C03EB3-C806-5E5F-2611-89D3B29EF9FE}"/>
              </a:ext>
            </a:extLst>
          </p:cNvPr>
          <p:cNvSpPr txBox="1"/>
          <p:nvPr/>
        </p:nvSpPr>
        <p:spPr>
          <a:xfrm>
            <a:off x="196938" y="4322396"/>
            <a:ext cx="4361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 single qubit gate is a 2x2 matrix while the unitary is 8x8</a:t>
            </a:r>
          </a:p>
        </p:txBody>
      </p:sp>
    </p:spTree>
    <p:extLst>
      <p:ext uri="{BB962C8B-B14F-4D97-AF65-F5344CB8AC3E}">
        <p14:creationId xmlns:p14="http://schemas.microsoft.com/office/powerpoint/2010/main" val="4153874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901F7-064B-8705-866E-FA57ADA0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12C359-96E7-FE75-7DE6-25CFC0C64DA7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Methodology (Original – Macro Search)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12FA0F23-CF97-1E31-5C3D-4B64CC12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11" name="Picture 1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B5A0598-BFAD-AC39-9749-C25500986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045" y="868725"/>
            <a:ext cx="2921000" cy="3213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AF9F02-C932-30EC-9CE6-529CFA014491}"/>
              </a:ext>
            </a:extLst>
          </p:cNvPr>
          <p:cNvSpPr txBox="1"/>
          <p:nvPr/>
        </p:nvSpPr>
        <p:spPr>
          <a:xfrm>
            <a:off x="1069848" y="1197864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37B19-2545-FBC0-24D1-8622E8D38649}"/>
              </a:ext>
            </a:extLst>
          </p:cNvPr>
          <p:cNvSpPr txBox="1"/>
          <p:nvPr/>
        </p:nvSpPr>
        <p:spPr>
          <a:xfrm>
            <a:off x="274320" y="810735"/>
            <a:ext cx="52669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Outer loop (epochs):</a:t>
            </a:r>
            <a:r>
              <a:rPr lang="en-US" sz="1400" dirty="0">
                <a:solidFill>
                  <a:schemeClr val="bg1"/>
                </a:solidFill>
              </a:rPr>
              <a:t> Repeatedly update the circuit architecture using learnable gate-selection parameters (</a:t>
            </a:r>
            <a:r>
              <a:rPr lang="en-US" sz="1400" b="1" dirty="0">
                <a:solidFill>
                  <a:schemeClr val="bg1"/>
                </a:solidFill>
              </a:rPr>
              <a:t>P, Q</a:t>
            </a:r>
            <a:r>
              <a:rPr lang="en-US" sz="1400" dirty="0">
                <a:solidFill>
                  <a:schemeClr val="bg1"/>
                </a:solidFill>
              </a:rPr>
              <a:t>) with Gumbel-</a:t>
            </a:r>
            <a:r>
              <a:rPr lang="en-US" sz="1400" dirty="0" err="1">
                <a:solidFill>
                  <a:schemeClr val="bg1"/>
                </a:solidFill>
              </a:rPr>
              <a:t>Softmax</a:t>
            </a:r>
            <a:r>
              <a:rPr lang="en-US" sz="1400" dirty="0">
                <a:solidFill>
                  <a:schemeClr val="bg1"/>
                </a:solidFill>
              </a:rPr>
              <a:t> sampling.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Inner loop (</a:t>
            </a:r>
            <a:r>
              <a:rPr lang="el-GR" sz="1400" b="1" dirty="0">
                <a:solidFill>
                  <a:schemeClr val="bg1"/>
                </a:solidFill>
              </a:rPr>
              <a:t>θ-</a:t>
            </a:r>
            <a:r>
              <a:rPr lang="en-US" sz="1400" b="1" dirty="0">
                <a:solidFill>
                  <a:schemeClr val="bg1"/>
                </a:solidFill>
              </a:rPr>
              <a:t>update):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Sample gates for each qubit/layer from the gate library using argmax one hot encoding.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Construct the full circuit unitary </a:t>
            </a:r>
            <a:r>
              <a:rPr lang="en-US" sz="1400" b="1" dirty="0" err="1">
                <a:solidFill>
                  <a:schemeClr val="bg1"/>
                </a:solidFill>
              </a:rPr>
              <a:t>Û</a:t>
            </a:r>
            <a:r>
              <a:rPr lang="en-US" sz="1400" dirty="0">
                <a:solidFill>
                  <a:schemeClr val="bg1"/>
                </a:solidFill>
              </a:rPr>
              <a:t> layer by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Optimize gate parameters </a:t>
            </a:r>
            <a:r>
              <a:rPr lang="el-GR" sz="1400" b="1" dirty="0">
                <a:solidFill>
                  <a:schemeClr val="bg1"/>
                </a:solidFill>
              </a:rPr>
              <a:t>θ</a:t>
            </a:r>
            <a:r>
              <a:rPr lang="el-GR" sz="14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using the quantum loss </a:t>
            </a:r>
            <a:r>
              <a:rPr lang="en-US" sz="1400" b="1" dirty="0">
                <a:solidFill>
                  <a:schemeClr val="bg1"/>
                </a:solidFill>
              </a:rPr>
              <a:t>L</a:t>
            </a:r>
            <a:r>
              <a:rPr lang="el-GR" sz="1400" b="1" dirty="0">
                <a:solidFill>
                  <a:schemeClr val="bg1"/>
                </a:solidFill>
              </a:rPr>
              <a:t>θ</a:t>
            </a:r>
            <a:r>
              <a:rPr lang="el-GR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  <a:p>
            <a:endParaRPr lang="el-GR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Architecture update: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Compute architecture loss </a:t>
            </a:r>
            <a:r>
              <a:rPr lang="en-US" sz="1400" b="1" dirty="0">
                <a:solidFill>
                  <a:schemeClr val="bg1"/>
                </a:solidFill>
              </a:rPr>
              <a:t>L_A</a:t>
            </a:r>
            <a:r>
              <a:rPr lang="en-US" sz="1400" dirty="0">
                <a:solidFill>
                  <a:schemeClr val="bg1"/>
                </a:solidFill>
              </a:rPr>
              <a:t> based on circuit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Update architecture parameters </a:t>
            </a:r>
            <a:r>
              <a:rPr lang="en-US" sz="1400" b="1" dirty="0">
                <a:solidFill>
                  <a:schemeClr val="bg1"/>
                </a:solidFill>
              </a:rPr>
              <a:t>P</a:t>
            </a:r>
            <a:r>
              <a:rPr lang="en-US" sz="1400" dirty="0">
                <a:solidFill>
                  <a:schemeClr val="bg1"/>
                </a:solidFill>
              </a:rPr>
              <a:t> and </a:t>
            </a:r>
            <a:r>
              <a:rPr lang="en-US" sz="1400" b="1" dirty="0">
                <a:solidFill>
                  <a:schemeClr val="bg1"/>
                </a:solidFill>
              </a:rPr>
              <a:t>Q</a:t>
            </a:r>
            <a:r>
              <a:rPr lang="en-US" sz="1400" dirty="0">
                <a:solidFill>
                  <a:schemeClr val="bg1"/>
                </a:solidFill>
              </a:rPr>
              <a:t> using gradient descent.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Finalization: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Fix the best architecture </a:t>
            </a:r>
            <a:r>
              <a:rPr lang="en-US" sz="1400" b="1" dirty="0">
                <a:solidFill>
                  <a:schemeClr val="bg1"/>
                </a:solidFill>
              </a:rPr>
              <a:t>A</a:t>
            </a:r>
            <a:r>
              <a:rPr lang="en-US" sz="1400" dirty="0">
                <a:solidFill>
                  <a:schemeClr val="bg1"/>
                </a:solidFill>
              </a:rPr>
              <a:t>, then perform a final fine-tuning of gate parameters </a:t>
            </a:r>
            <a:r>
              <a:rPr lang="el-GR" sz="1400" b="1" dirty="0">
                <a:solidFill>
                  <a:schemeClr val="bg1"/>
                </a:solidFill>
              </a:rPr>
              <a:t>θ</a:t>
            </a:r>
            <a:r>
              <a:rPr lang="el-GR" sz="1400" dirty="0">
                <a:solidFill>
                  <a:schemeClr val="bg1"/>
                </a:solidFill>
              </a:rPr>
              <a:t>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28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31925-F26B-3D1D-550B-C4D151A5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43B6FD-2CF5-7D24-B525-0F38E4217200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Micro Search Sub Circuits in Max Cut – My Setup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B234E21B-1BE6-E50B-A7BA-E8A0EDAD9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6" name="Picture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DB4C639B-CFC7-8B5E-5370-36DDF465C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377" y="930513"/>
            <a:ext cx="3714783" cy="2203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627B08-29E5-A8D1-76A3-B2FF2C0B8D08}"/>
              </a:ext>
            </a:extLst>
          </p:cNvPr>
          <p:cNvSpPr txBox="1"/>
          <p:nvPr/>
        </p:nvSpPr>
        <p:spPr>
          <a:xfrm>
            <a:off x="310896" y="1001987"/>
            <a:ext cx="38999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For micro search 2 qubit sub circuits are modeled and 4x4 </a:t>
            </a:r>
            <a:r>
              <a:rPr lang="en-US" dirty="0" err="1">
                <a:solidFill>
                  <a:schemeClr val="bg1"/>
                </a:solidFill>
              </a:rPr>
              <a:t>unitaries</a:t>
            </a:r>
            <a:r>
              <a:rPr lang="en-US" dirty="0">
                <a:solidFill>
                  <a:schemeClr val="bg1"/>
                </a:solidFill>
              </a:rPr>
              <a:t> are formed for L layers which form one edge connection in max cut.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These subcircuits are then tiled which basically form interaction between edges in the max cut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So final </a:t>
            </a:r>
            <a:r>
              <a:rPr lang="en-US" dirty="0" err="1">
                <a:solidFill>
                  <a:schemeClr val="bg1"/>
                </a:solidFill>
              </a:rPr>
              <a:t>unitaries</a:t>
            </a:r>
            <a:r>
              <a:rPr lang="en-US" dirty="0">
                <a:solidFill>
                  <a:schemeClr val="bg1"/>
                </a:solidFill>
              </a:rPr>
              <a:t> of size </a:t>
            </a:r>
            <a:r>
              <a:rPr lang="en-US" sz="1800" dirty="0">
                <a:solidFill>
                  <a:schemeClr val="bg1"/>
                </a:solidFill>
              </a:rPr>
              <a:t>2</a:t>
            </a:r>
            <a:r>
              <a:rPr lang="en-US" sz="1800" baseline="30000" dirty="0">
                <a:solidFill>
                  <a:schemeClr val="bg1"/>
                </a:solidFill>
              </a:rPr>
              <a:t>n </a:t>
            </a:r>
            <a:r>
              <a:rPr lang="en-US" sz="1800" dirty="0">
                <a:solidFill>
                  <a:schemeClr val="bg1"/>
                </a:solidFill>
              </a:rPr>
              <a:t>x 2</a:t>
            </a:r>
            <a:r>
              <a:rPr lang="en-US" sz="1800" baseline="30000" dirty="0">
                <a:solidFill>
                  <a:schemeClr val="bg1"/>
                </a:solidFill>
              </a:rPr>
              <a:t>n  </a:t>
            </a:r>
            <a:r>
              <a:rPr lang="en-US" dirty="0">
                <a:solidFill>
                  <a:schemeClr val="bg1"/>
                </a:solidFill>
              </a:rPr>
              <a:t>are multiplied only |E| times as opposed to n x m times in macro search which reduces number of computations drastically.</a:t>
            </a:r>
          </a:p>
        </p:txBody>
      </p:sp>
      <p:pic>
        <p:nvPicPr>
          <p:cNvPr id="10" name="Picture 9" descr="A diagram of a circuit&#10;&#10;Description automatically generated">
            <a:extLst>
              <a:ext uri="{FF2B5EF4-FFF2-40B4-BE49-F238E27FC236}">
                <a16:creationId xmlns:a16="http://schemas.microsoft.com/office/drawing/2014/main" id="{8D39FD7D-1F89-9DF1-D628-487859B83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893" y="3237390"/>
            <a:ext cx="3701267" cy="138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22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98CCB-6C46-0C1E-5A05-81E65854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1A6648-32B3-EA08-E1E0-69903A4C455A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Micro Search in Max Cut with Compiler Awareness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E91DE6CD-445A-BAAB-34B8-E326B8E13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E2F1BC-6A36-BB54-860D-96869F4CAAE8}"/>
              </a:ext>
            </a:extLst>
          </p:cNvPr>
          <p:cNvSpPr txBox="1"/>
          <p:nvPr/>
        </p:nvSpPr>
        <p:spPr>
          <a:xfrm>
            <a:off x="358915" y="1056851"/>
            <a:ext cx="389991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Learns a </a:t>
            </a:r>
            <a:r>
              <a:rPr lang="en-US" sz="1400" b="1" dirty="0">
                <a:solidFill>
                  <a:schemeClr val="bg1"/>
                </a:solidFill>
              </a:rPr>
              <a:t>shared 2-qubit subcircuit</a:t>
            </a:r>
            <a:r>
              <a:rPr lang="en-US" sz="1400" dirty="0">
                <a:solidFill>
                  <a:schemeClr val="bg1"/>
                </a:solidFill>
              </a:rPr>
              <a:t> and tiles it across all graph edges to build the full Max-Cut circuit.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Uses </a:t>
            </a:r>
            <a:r>
              <a:rPr lang="en-US" sz="1400" b="1" dirty="0">
                <a:solidFill>
                  <a:schemeClr val="bg1"/>
                </a:solidFill>
              </a:rPr>
              <a:t>Gumbel-</a:t>
            </a:r>
            <a:r>
              <a:rPr lang="en-US" sz="1400" b="1" dirty="0" err="1">
                <a:solidFill>
                  <a:schemeClr val="bg1"/>
                </a:solidFill>
              </a:rPr>
              <a:t>Softmax</a:t>
            </a:r>
            <a:r>
              <a:rPr lang="en-US" sz="1400" dirty="0">
                <a:solidFill>
                  <a:schemeClr val="bg1"/>
                </a:solidFill>
              </a:rPr>
              <a:t> to select gates and optimize both architecture parameters and gate parameters jointly.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 few epochs, the circuit is </a:t>
            </a:r>
            <a:r>
              <a:rPr lang="en-US" sz="1400" b="1" dirty="0">
                <a:solidFill>
                  <a:schemeClr val="bg1"/>
                </a:solidFill>
              </a:rPr>
              <a:t>compiled</a:t>
            </a:r>
            <a:r>
              <a:rPr lang="en-US" sz="1400" dirty="0">
                <a:solidFill>
                  <a:schemeClr val="bg1"/>
                </a:solidFill>
              </a:rPr>
              <a:t> to evaluate hardware-realistic costs (gate count, SWAPs, error).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Updates the architecture using a </a:t>
            </a:r>
            <a:r>
              <a:rPr lang="en-US" sz="1400" b="1" dirty="0">
                <a:solidFill>
                  <a:schemeClr val="bg1"/>
                </a:solidFill>
              </a:rPr>
              <a:t>compiler-aware loss</a:t>
            </a:r>
            <a:r>
              <a:rPr lang="en-US" sz="1400" dirty="0">
                <a:solidFill>
                  <a:schemeClr val="bg1"/>
                </a:solidFill>
              </a:rPr>
              <a:t>, encouraging circuits that are both accurate and hardware-efficient.</a:t>
            </a:r>
          </a:p>
        </p:txBody>
      </p:sp>
      <p:pic>
        <p:nvPicPr>
          <p:cNvPr id="4" name="Picture 3" descr="A paper with text and numbers&#10;&#10;Description automatically generated">
            <a:extLst>
              <a:ext uri="{FF2B5EF4-FFF2-40B4-BE49-F238E27FC236}">
                <a16:creationId xmlns:a16="http://schemas.microsoft.com/office/drawing/2014/main" id="{9445460C-F6AC-A727-DF24-F9ADEEF02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170" y="858586"/>
            <a:ext cx="3147833" cy="38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82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139DD-B385-FE82-95F1-41E0035E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744D75-20EF-B973-E837-685218B74363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Results – Unweighted Max Cut using Macro Search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2AFEB7A9-2780-85EB-BA6A-1EBE1DD4A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609B0E-1BBE-66C2-C7EA-9DCE0D82CE88}"/>
              </a:ext>
            </a:extLst>
          </p:cNvPr>
          <p:cNvSpPr txBox="1"/>
          <p:nvPr/>
        </p:nvSpPr>
        <p:spPr>
          <a:xfrm>
            <a:off x="396390" y="923409"/>
            <a:ext cx="6766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Evaluated using </a:t>
            </a:r>
            <a:r>
              <a:rPr lang="en-US" sz="1400" dirty="0" err="1">
                <a:solidFill>
                  <a:schemeClr val="bg1"/>
                </a:solidFill>
              </a:rPr>
              <a:t>Erdos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Renyi</a:t>
            </a:r>
            <a:r>
              <a:rPr lang="en-US" sz="1400" dirty="0">
                <a:solidFill>
                  <a:schemeClr val="bg1"/>
                </a:solidFill>
              </a:rPr>
              <a:t> randomly generated 6 node graph with edge density = 0.5</a:t>
            </a:r>
          </a:p>
          <a:p>
            <a:r>
              <a:rPr lang="en-US" sz="1400" dirty="0">
                <a:solidFill>
                  <a:schemeClr val="bg1"/>
                </a:solidFill>
              </a:rPr>
              <a:t>Gate set used same as </a:t>
            </a:r>
            <a:r>
              <a:rPr lang="en-US" sz="1400" dirty="0" err="1">
                <a:solidFill>
                  <a:schemeClr val="bg1"/>
                </a:solidFill>
              </a:rPr>
              <a:t>QuantumDARTS</a:t>
            </a:r>
            <a:r>
              <a:rPr lang="en-US" sz="1400" dirty="0">
                <a:solidFill>
                  <a:schemeClr val="bg1"/>
                </a:solidFill>
              </a:rPr>
              <a:t> paper G = {R</a:t>
            </a:r>
            <a:r>
              <a:rPr lang="en-US" sz="1400" baseline="-25000" dirty="0">
                <a:solidFill>
                  <a:schemeClr val="bg1"/>
                </a:solidFill>
              </a:rPr>
              <a:t>z</a:t>
            </a:r>
            <a:r>
              <a:rPr lang="en-US" sz="1400" dirty="0">
                <a:solidFill>
                  <a:schemeClr val="bg1"/>
                </a:solidFill>
              </a:rPr>
              <a:t> R</a:t>
            </a:r>
            <a:r>
              <a:rPr lang="en-US" sz="1400" baseline="-25000" dirty="0">
                <a:solidFill>
                  <a:schemeClr val="bg1"/>
                </a:solidFill>
              </a:rPr>
              <a:t>y</a:t>
            </a:r>
            <a:r>
              <a:rPr lang="en-US" sz="1400" dirty="0">
                <a:solidFill>
                  <a:schemeClr val="bg1"/>
                </a:solidFill>
              </a:rPr>
              <a:t> R</a:t>
            </a:r>
            <a:r>
              <a:rPr lang="en-US" sz="1400" baseline="-25000" dirty="0">
                <a:solidFill>
                  <a:schemeClr val="bg1"/>
                </a:solidFill>
              </a:rPr>
              <a:t>z</a:t>
            </a:r>
            <a:r>
              <a:rPr lang="en-US" sz="1400" dirty="0">
                <a:solidFill>
                  <a:schemeClr val="bg1"/>
                </a:solidFill>
              </a:rPr>
              <a:t>, C-NOT, I}. Trained for 50 epochs.</a:t>
            </a:r>
          </a:p>
        </p:txBody>
      </p:sp>
      <p:pic>
        <p:nvPicPr>
          <p:cNvPr id="6" name="Picture 5" descr="A black background with yellow text&#10;&#10;Description automatically generated">
            <a:extLst>
              <a:ext uri="{FF2B5EF4-FFF2-40B4-BE49-F238E27FC236}">
                <a16:creationId xmlns:a16="http://schemas.microsoft.com/office/drawing/2014/main" id="{1DC5E260-3822-C8CD-C073-244F19F7A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12" y="2133142"/>
            <a:ext cx="3454400" cy="2146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9FE509-14AE-07F5-4117-233DC0795389}"/>
              </a:ext>
            </a:extLst>
          </p:cNvPr>
          <p:cNvSpPr txBox="1"/>
          <p:nvPr/>
        </p:nvSpPr>
        <p:spPr>
          <a:xfrm>
            <a:off x="396390" y="1559053"/>
            <a:ext cx="8226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Final max cut value is extracted from highest probability cut value.  For example, if it was |100&gt;, then x</a:t>
            </a:r>
            <a:r>
              <a:rPr lang="en-US" sz="1200" baseline="-25000" dirty="0">
                <a:solidFill>
                  <a:schemeClr val="bg1"/>
                </a:solidFill>
              </a:rPr>
              <a:t>1 </a:t>
            </a:r>
            <a:r>
              <a:rPr lang="en-US" sz="1200" dirty="0">
                <a:solidFill>
                  <a:schemeClr val="bg1"/>
                </a:solidFill>
              </a:rPr>
              <a:t>= 1, x</a:t>
            </a:r>
            <a:r>
              <a:rPr lang="en-US" sz="1200" baseline="-25000" dirty="0">
                <a:solidFill>
                  <a:schemeClr val="bg1"/>
                </a:solidFill>
              </a:rPr>
              <a:t>2 </a:t>
            </a:r>
            <a:r>
              <a:rPr lang="en-US" sz="1200" dirty="0">
                <a:solidFill>
                  <a:schemeClr val="bg1"/>
                </a:solidFill>
              </a:rPr>
              <a:t>= -1, x</a:t>
            </a:r>
            <a:r>
              <a:rPr lang="en-US" sz="1200" baseline="-25000" dirty="0">
                <a:solidFill>
                  <a:schemeClr val="bg1"/>
                </a:solidFill>
              </a:rPr>
              <a:t>3 </a:t>
            </a:r>
            <a:r>
              <a:rPr lang="en-US" sz="1200" dirty="0">
                <a:solidFill>
                  <a:schemeClr val="bg1"/>
                </a:solidFill>
              </a:rPr>
              <a:t>= -1 which is applied the equation.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020F14-0AB8-FC03-BD76-C30F40546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82" y="2119884"/>
            <a:ext cx="3252506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0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6B8D9-7CE2-FB50-B797-311A50834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76EAEF-03D1-1634-849E-974002DCAD38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Results – Unweighted Max Cut using Macro Search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10CBA158-462B-A56B-011F-14F00DC6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5EC03A-649B-AD83-863D-C1E573C49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24" y="2963568"/>
            <a:ext cx="2018590" cy="1584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05247-8391-5423-9F87-E7AEA5FCD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24" y="1091184"/>
            <a:ext cx="2018589" cy="1584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BC0E90-4D5E-4A6D-40F1-A27B6626D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928340"/>
            <a:ext cx="4343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28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EB4B2-B9DE-D91D-7002-D09778CF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40E7BD-BC89-A5F1-32BF-44067023C312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Results – Unweighted Max Cut using Macro Search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DC1C0712-9147-57EE-956D-06CD4307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2EBA28-2B79-F5DE-D593-807C1EE98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224" y="1035701"/>
            <a:ext cx="4426592" cy="34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03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F5B8C-4C14-9ECF-7BED-021C3C6B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5A978F-FDF6-529D-4985-F8D30519026D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Results – Unweighted Max Cut using Micro Search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ADA2BE87-21E0-C33F-0FB4-BE7CF3840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5A7019-C484-00B5-53E2-9CEB602A486B}"/>
              </a:ext>
            </a:extLst>
          </p:cNvPr>
          <p:cNvSpPr txBox="1"/>
          <p:nvPr/>
        </p:nvSpPr>
        <p:spPr>
          <a:xfrm>
            <a:off x="5652123" y="1495044"/>
            <a:ext cx="31537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{</a:t>
            </a:r>
          </a:p>
          <a:p>
            <a:r>
              <a:rPr lang="en-US" sz="1400" dirty="0">
                <a:solidFill>
                  <a:schemeClr val="bg1"/>
                </a:solidFill>
              </a:rPr>
              <a:t>'</a:t>
            </a:r>
            <a:r>
              <a:rPr lang="en-US" sz="1400" dirty="0" err="1">
                <a:solidFill>
                  <a:schemeClr val="bg1"/>
                </a:solidFill>
              </a:rPr>
              <a:t>cvar</a:t>
            </a:r>
            <a:r>
              <a:rPr lang="en-US" sz="1400" dirty="0">
                <a:solidFill>
                  <a:schemeClr val="bg1"/>
                </a:solidFill>
              </a:rPr>
              <a:t>': 6.515999794006348, </a:t>
            </a:r>
          </a:p>
          <a:p>
            <a:r>
              <a:rPr lang="en-US" sz="1400" dirty="0">
                <a:solidFill>
                  <a:schemeClr val="bg1"/>
                </a:solidFill>
              </a:rPr>
              <a:t>'</a:t>
            </a:r>
            <a:r>
              <a:rPr lang="en-US" sz="1400" dirty="0" err="1">
                <a:solidFill>
                  <a:schemeClr val="bg1"/>
                </a:solidFill>
              </a:rPr>
              <a:t>max_cut_classical</a:t>
            </a:r>
            <a:r>
              <a:rPr lang="en-US" sz="1400" dirty="0">
                <a:solidFill>
                  <a:schemeClr val="bg1"/>
                </a:solidFill>
              </a:rPr>
              <a:t>': 7, </a:t>
            </a:r>
          </a:p>
          <a:p>
            <a:r>
              <a:rPr lang="en-US" sz="1400" dirty="0">
                <a:solidFill>
                  <a:schemeClr val="bg1"/>
                </a:solidFill>
              </a:rPr>
              <a:t>'</a:t>
            </a:r>
            <a:r>
              <a:rPr lang="en-US" sz="1400" dirty="0" err="1">
                <a:solidFill>
                  <a:schemeClr val="bg1"/>
                </a:solidFill>
              </a:rPr>
              <a:t>best_bitstring</a:t>
            </a:r>
            <a:r>
              <a:rPr lang="en-US" sz="1400" dirty="0">
                <a:solidFill>
                  <a:schemeClr val="bg1"/>
                </a:solidFill>
              </a:rPr>
              <a:t>': [0, 1, 1, 1, 0, 0], </a:t>
            </a:r>
          </a:p>
          <a:p>
            <a:r>
              <a:rPr lang="en-US" sz="1400" dirty="0">
                <a:solidFill>
                  <a:schemeClr val="bg1"/>
                </a:solidFill>
              </a:rPr>
              <a:t>'</a:t>
            </a:r>
            <a:r>
              <a:rPr lang="en-US" sz="1400" dirty="0" err="1">
                <a:solidFill>
                  <a:schemeClr val="bg1"/>
                </a:solidFill>
              </a:rPr>
              <a:t>best_partition</a:t>
            </a:r>
            <a:r>
              <a:rPr lang="en-US" sz="1400" dirty="0">
                <a:solidFill>
                  <a:schemeClr val="bg1"/>
                </a:solidFill>
              </a:rPr>
              <a:t>': [-1, 1, 1, 1, -1, -1], </a:t>
            </a:r>
          </a:p>
          <a:p>
            <a:r>
              <a:rPr lang="en-US" sz="1400" dirty="0">
                <a:solidFill>
                  <a:schemeClr val="bg1"/>
                </a:solidFill>
              </a:rPr>
              <a:t>'</a:t>
            </a:r>
            <a:r>
              <a:rPr lang="en-US" sz="1400" dirty="0" err="1">
                <a:solidFill>
                  <a:schemeClr val="bg1"/>
                </a:solidFill>
              </a:rPr>
              <a:t>cut_value</a:t>
            </a:r>
            <a:r>
              <a:rPr lang="en-US" sz="1400" dirty="0">
                <a:solidFill>
                  <a:schemeClr val="bg1"/>
                </a:solidFill>
              </a:rPr>
              <a:t>': 7, </a:t>
            </a:r>
          </a:p>
          <a:p>
            <a:r>
              <a:rPr lang="en-US" sz="1400" dirty="0">
                <a:solidFill>
                  <a:schemeClr val="bg1"/>
                </a:solidFill>
              </a:rPr>
              <a:t>'</a:t>
            </a:r>
            <a:r>
              <a:rPr lang="en-US" sz="1400" dirty="0" err="1">
                <a:solidFill>
                  <a:schemeClr val="bg1"/>
                </a:solidFill>
              </a:rPr>
              <a:t>solution_prob</a:t>
            </a:r>
            <a:r>
              <a:rPr lang="en-US" sz="1400" dirty="0">
                <a:solidFill>
                  <a:schemeClr val="bg1"/>
                </a:solidFill>
              </a:rPr>
              <a:t>': 0.04110576584935188, </a:t>
            </a:r>
          </a:p>
          <a:p>
            <a:r>
              <a:rPr lang="en-US" sz="1400" dirty="0">
                <a:solidFill>
                  <a:schemeClr val="bg1"/>
                </a:solidFill>
              </a:rPr>
              <a:t>'</a:t>
            </a:r>
            <a:r>
              <a:rPr lang="en-US" sz="1400" dirty="0" err="1">
                <a:solidFill>
                  <a:schemeClr val="bg1"/>
                </a:solidFill>
              </a:rPr>
              <a:t>found_optimal</a:t>
            </a:r>
            <a:r>
              <a:rPr lang="en-US" sz="1400" dirty="0">
                <a:solidFill>
                  <a:schemeClr val="bg1"/>
                </a:solidFill>
              </a:rPr>
              <a:t>': True</a:t>
            </a:r>
          </a:p>
          <a:p>
            <a:r>
              <a:rPr lang="en-US" sz="1400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1EBCF7-FFBE-D2C0-E7AD-19E3C4601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005840"/>
            <a:ext cx="4178808" cy="348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42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03666-9836-EAA1-F5A0-786275F6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8D2D62-68C3-5B02-27F5-B7FDE7D08154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Results – Unweighted Max Cut using Micro Search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8D2DD1B8-D984-877C-9C8C-B58E97C6F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490545-183F-7BBD-43E0-E9B31FF22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204" y="923544"/>
            <a:ext cx="4793536" cy="370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6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D534D-4F81-F363-62EA-FA37B1EF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0F29E0-AE2A-D22E-BD56-3B49023775AF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Compiler Aware Micro Search – 6 nodes, edge density = 0.5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63581E9A-2B46-163A-6F54-A6F43312A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B59B54-6BDE-71DD-7F1D-E3025C849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685" y="854964"/>
            <a:ext cx="5733807" cy="381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02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3BEC8-83FD-957B-E4FB-4C7286814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3CC378-46A0-58C4-044F-24BFEF1214B5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Compiler Aware Micro Search – 6 nodes, edge density = 0.25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3D61920E-1845-EF29-CF8E-D1F618D1C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E64E5E-7BF7-6D69-44C3-FD92AAA48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658" y="886968"/>
            <a:ext cx="5708084" cy="379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88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8079A-71D4-C1F5-9C61-CF93B224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B4E7CC-08DD-5428-5536-8A677328C899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Compiler Aware Micro Search – 6 nodes, edge density = 0.75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92454E47-1110-609A-47EE-6D0B12A8B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479559-DC86-7DEF-EF6E-D173F38D7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945" y="864108"/>
            <a:ext cx="5870967" cy="390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33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D4BFD-4881-13E4-1DD4-ADAB0BC4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489ECB-7A76-8894-C1E4-256B218D295B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Compiler Aware Micro Search – 8 nodes, edge density = 0.5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B296DA91-9633-5178-06F2-487DD2CAE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021B35-FD01-16BA-D231-3054699E7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941" y="882396"/>
            <a:ext cx="5797815" cy="385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10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A8EFE-70F4-AE99-C896-FA601508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45C264-4B86-C89A-E37F-CFFE9B5B5582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Compiler Aware Micro Search – 8 nodes, edge density = 0.25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E78AD6F5-4463-2C24-3653-DA8899177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2A964F-5ABC-C6DC-E4FF-D4A1CF520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675" y="809624"/>
            <a:ext cx="5824786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57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45149-9E46-27BC-CBFB-B4EF3EAD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43B0A5-95AD-5762-0842-93AA04283A0D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Compiler Aware Micro Search – 8 nodes, edge density = 0.75 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257FBDD2-1E19-62C1-7E65-1E89B7BEE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A08782-4462-88A2-43CC-D9799208E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217" y="777240"/>
            <a:ext cx="5770383" cy="38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25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85C98-83FB-CFE7-8BAB-CCDAD470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E1A1C4-C875-B4B4-3B93-B103A06512A2}"/>
              </a:ext>
            </a:extLst>
          </p:cNvPr>
          <p:cNvSpPr/>
          <p:nvPr/>
        </p:nvSpPr>
        <p:spPr>
          <a:xfrm>
            <a:off x="238284" y="276797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37"/>
                </a:solidFill>
                <a:latin typeface="Arial" pitchFamily="34" charset="0"/>
                <a:cs typeface="Arial" pitchFamily="34" charset="-120"/>
              </a:rPr>
              <a:t>Conclusion and Future Work</a:t>
            </a:r>
            <a:endParaRPr lang="en-US" sz="2400" dirty="0"/>
          </a:p>
        </p:txBody>
      </p:sp>
      <p:pic>
        <p:nvPicPr>
          <p:cNvPr id="5" name="Image 1" descr="/home/oai/share/cu_logo_light.png">
            <a:extLst>
              <a:ext uri="{FF2B5EF4-FFF2-40B4-BE49-F238E27FC236}">
                <a16:creationId xmlns:a16="http://schemas.microsoft.com/office/drawing/2014/main" id="{444DE297-8DD6-136C-268B-D8631EB0C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0540"/>
            <a:ext cx="731520" cy="548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FA2313-AFAE-7B27-6E6A-5F0F116C6DAA}"/>
              </a:ext>
            </a:extLst>
          </p:cNvPr>
          <p:cNvSpPr txBox="1"/>
          <p:nvPr/>
        </p:nvSpPr>
        <p:spPr>
          <a:xfrm>
            <a:off x="310356" y="779717"/>
            <a:ext cx="852328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QuantumDARTS</a:t>
            </a:r>
            <a:r>
              <a:rPr lang="en-US" sz="1600" dirty="0">
                <a:solidFill>
                  <a:schemeClr val="bg1"/>
                </a:solidFill>
              </a:rPr>
              <a:t> is a fully differentiable Quantum Architecture Search (QAS) algorithm using </a:t>
            </a:r>
            <a:r>
              <a:rPr lang="en-US" sz="1600" b="1" dirty="0">
                <a:solidFill>
                  <a:schemeClr val="bg1"/>
                </a:solidFill>
              </a:rPr>
              <a:t>Gumbel-</a:t>
            </a:r>
            <a:r>
              <a:rPr lang="en-US" sz="1600" b="1" dirty="0" err="1">
                <a:solidFill>
                  <a:schemeClr val="bg1"/>
                </a:solidFill>
              </a:rPr>
              <a:t>Softmax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evaluated compiler awareness on this.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Macro search is very slow for Max Cut.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Micro search shows scalability by discovering effective subcircuits for </a:t>
            </a:r>
            <a:r>
              <a:rPr lang="en-US" sz="1600" dirty="0" err="1">
                <a:solidFill>
                  <a:schemeClr val="bg1"/>
                </a:solidFill>
              </a:rPr>
              <a:t>MaxCut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Compiler Aware Micro search showed no promise for graphs with lower number of nodes (6 nodes).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Two out of 3 instances of 8 node graph showed significant improvement with compiler awareness.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Future Work: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Evaluate trends for larger graphs with compiler awareness.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Evaluate on multiple shots for each (node, edge density pair)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Evaluate compiler awareness for other parameterized quantum circuits.</a:t>
            </a:r>
          </a:p>
        </p:txBody>
      </p:sp>
    </p:spTree>
    <p:extLst>
      <p:ext uri="{BB962C8B-B14F-4D97-AF65-F5344CB8AC3E}">
        <p14:creationId xmlns:p14="http://schemas.microsoft.com/office/powerpoint/2010/main" val="399930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1343</Words>
  <Application>Microsoft Macintosh PowerPoint</Application>
  <PresentationFormat>On-screen Show (16:9)</PresentationFormat>
  <Paragraphs>160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Rajath Vasisth</cp:lastModifiedBy>
  <cp:revision>4</cp:revision>
  <dcterms:created xsi:type="dcterms:W3CDTF">2025-09-23T08:07:29Z</dcterms:created>
  <dcterms:modified xsi:type="dcterms:W3CDTF">2025-12-11T17:23:49Z</dcterms:modified>
</cp:coreProperties>
</file>